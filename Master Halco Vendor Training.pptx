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DARK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36849" y="1079449"/>
            <a:ext cx="5918088" cy="4571909"/>
          </a:xfrm>
          <a:prstGeom prst="roundRect">
            <a:avLst>
              <a:gd name="adj" fmla="val 333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36958" y="6330757"/>
            <a:ext cx="2717688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118" y="1593799"/>
            <a:ext cx="977859" cy="45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3778118" y="2406609"/>
            <a:ext cx="7670627" cy="336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b="1" spc="52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VENDOR TRAINING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171859" y="3232038"/>
            <a:ext cx="5702198" cy="1035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spc="48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MASTER HALCO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3778118" y="4356019"/>
            <a:ext cx="2070019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3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778118" y="4648078"/>
            <a:ext cx="20700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Austin Porter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778118" y="4914809"/>
            <a:ext cx="2070019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VP Sales &amp; Marketing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22758" y="4356019"/>
            <a:ext cx="2184319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3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22758" y="4648078"/>
            <a:ext cx="21843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Master Halco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422758" y="4914809"/>
            <a:ext cx="2184319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Florida · April 28, 2026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035418" y="6400617"/>
            <a:ext cx="99697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OPENING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561322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5778368" y="6400617"/>
            <a:ext cx="269235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SHORELINE × MASTER HALCO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3548" y="6330757"/>
            <a:ext cx="204469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1970" y="1574780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OUR MISSION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61970" y="2012869"/>
            <a:ext cx="11429726" cy="87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sustainable composites that outlast and outperform wood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20709" y="3498769"/>
            <a:ext cx="721342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FOUNDED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20709" y="3740079"/>
            <a:ext cx="7213427" cy="539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18 years · Jacksonville, FL since 2008. USA-made composite extrusion built around marine-grade durability.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37108" y="3498769"/>
            <a:ext cx="6254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PRICE POINT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37108" y="3740079"/>
            <a:ext cx="6254587" cy="539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Around half the cost of comparable 100% solid fiberglass — attainable for residential and light commercial, not just heavy infrastructure.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0709" y="4451208"/>
            <a:ext cx="721342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RECYCLED CONTENT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20709" y="4692518"/>
            <a:ext cx="7213427" cy="539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Up to 10 lbs of recycled PVC reused per linear foot of EcoPile. 100% recyclable at end-of-life.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37108" y="4451208"/>
            <a:ext cx="6254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TOOLS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937108" y="4692518"/>
            <a:ext cx="6254587" cy="539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Drop-in replacement for wood. Same standard tools, same crew, no specialty equipment required.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72009" y="6400617"/>
            <a:ext cx="99697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OPENING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94981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114867" y="6400617"/>
            <a:ext cx="162552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WHY SHORELINE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955969"/>
            <a:ext cx="5587898" cy="35561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761970" y="4717938"/>
            <a:ext cx="5587898" cy="35561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Shape 2"/>
          <p:cNvSpPr/>
          <p:nvPr/>
        </p:nvSpPr>
        <p:spPr>
          <a:xfrm>
            <a:off x="4971959" y="6330757"/>
            <a:ext cx="224787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61970" y="1657350"/>
            <a:ext cx="1122654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WOOD IS FAILING FASTER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61970" y="2793949"/>
            <a:ext cx="7689647" cy="75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00" b="1" spc="34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NOW THEY FAIL IN HALF THAT.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761970" y="3701948"/>
            <a:ext cx="9194566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THEN · PRE-2003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619628" y="3974988"/>
            <a:ext cx="1219170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30+ YRS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61970" y="4463918"/>
            <a:ext cx="9194566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FF6B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NOW · MODERN WOOD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562228" y="4736958"/>
            <a:ext cx="1231880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&lt; 15 YRS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71500" y="5556077"/>
            <a:ext cx="553705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REASON 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" y="5784677"/>
            <a:ext cx="5537058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Modern timber is grown faster — less dense, weaker.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254429" y="5556077"/>
            <a:ext cx="63498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REASON 02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254429" y="5784677"/>
            <a:ext cx="6349868" cy="45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EPA limits on CCA treatment — less protection than your customers' parents installed.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270327" y="6400617"/>
            <a:ext cx="99697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OPENING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584822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6013277" y="6400617"/>
            <a:ext cx="194940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LIFESPAN COLLAPSE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2533620"/>
            <a:ext cx="3454329" cy="2933670"/>
          </a:xfrm>
          <a:prstGeom prst="roundRect">
            <a:avLst>
              <a:gd name="adj" fmla="val 5196"/>
            </a:avLst>
          </a:prstGeom>
          <a:ln w="6350">
            <a:solidFill>
              <a:srgbClr val="00B5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550" y="4984669"/>
            <a:ext cx="3035259" cy="27304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68729" y="2533620"/>
            <a:ext cx="3454329" cy="2933670"/>
          </a:xfrm>
          <a:prstGeom prst="roundRect">
            <a:avLst>
              <a:gd name="adj" fmla="val 5196"/>
            </a:avLst>
          </a:prstGeom>
          <a:ln w="6350">
            <a:solidFill>
              <a:srgbClr val="00B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8218" y="4984669"/>
            <a:ext cx="3035259" cy="27304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5397" y="2533620"/>
            <a:ext cx="3454329" cy="2933670"/>
          </a:xfrm>
          <a:prstGeom prst="roundRect">
            <a:avLst>
              <a:gd name="adj" fmla="val 5196"/>
            </a:avLst>
          </a:prstGeom>
          <a:ln w="6350">
            <a:solidFill>
              <a:srgbClr val="00B5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4977" y="4984669"/>
            <a:ext cx="3035259" cy="27304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109" y="6330757"/>
            <a:ext cx="212716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970" y="634959"/>
            <a:ext cx="9448587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THE PLATFORM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553206" y="1593799"/>
            <a:ext cx="363848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THREE OF FOUR · IN TODAY'S TRAINING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553206" y="1822399"/>
            <a:ext cx="363848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~½ the cost of solid fiberglass · USA-made · Jacksonville, FL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71550" y="2793949"/>
            <a:ext cx="5111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 · FLAGSHIP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71550" y="3073298"/>
            <a:ext cx="5111587" cy="40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spc="26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71550" y="3555919"/>
            <a:ext cx="5111587" cy="46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Vinyl-fiberglass composite structural piling. Drop-in replacement for wood with standard tools.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71550" y="5117988"/>
            <a:ext cx="5111587" cy="215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spc="21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50-YEAR WARRANTY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4578218" y="2793949"/>
            <a:ext cx="5111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 · REPAIR &amp; RETROFIT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8218" y="3073298"/>
            <a:ext cx="5111587" cy="40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spc="26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78218" y="3555919"/>
            <a:ext cx="5111587" cy="46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Patent-pending PVC clamshell repair jacket. Restores piles in place — no demo, no crane.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8218" y="5117988"/>
            <a:ext cx="5111587" cy="215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spc="21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25-YEAR WARRANTY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8184977" y="2793949"/>
            <a:ext cx="400671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 · PREVIEW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184977" y="3073298"/>
            <a:ext cx="4006718" cy="40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spc="26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SEAWALL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8184977" y="3555919"/>
            <a:ext cx="4006718" cy="46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EcoWall + KingPile. Fiber-reinforced sheet panels at ~2× the allowable moment of competitors.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184977" y="5117988"/>
            <a:ext cx="4006718" cy="215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00" b="1" spc="21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PRODUCTIZATION MATURING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327477" y="6400617"/>
            <a:ext cx="11302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PLATFORM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99425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159307" y="6400617"/>
            <a:ext cx="162552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FOUR PRODUCTS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1504920"/>
            <a:ext cx="6362578" cy="3714659"/>
          </a:xfrm>
          <a:prstGeom prst="roundRect">
            <a:avLst>
              <a:gd name="adj" fmla="val 4103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37008" y="6330757"/>
            <a:ext cx="191768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30" y="2444648"/>
            <a:ext cx="1276320" cy="507949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1403330" y="2019270"/>
            <a:ext cx="838175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403330" y="3352739"/>
            <a:ext cx="8381756" cy="679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spc="5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WORKHORSE.</a:t>
            </a:r>
            <a:endParaRPr lang="en-US" sz="5000" dirty="0"/>
          </a:p>
        </p:txBody>
      </p:sp>
      <p:sp>
        <p:nvSpPr>
          <p:cNvPr id="9" name="Text 5"/>
          <p:cNvSpPr txBox="1"/>
          <p:nvPr/>
        </p:nvSpPr>
        <p:spPr>
          <a:xfrm>
            <a:off x="1403330" y="4209989"/>
            <a:ext cx="838175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Vinyl-fiberglass composite structural piling. Drop-in for wood. The flagship product.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35468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598154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146688" y="6400617"/>
            <a:ext cx="14731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OPEN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75247" y="2070019"/>
            <a:ext cx="4654479" cy="1270010"/>
          </a:xfrm>
          <a:prstGeom prst="roundRect">
            <a:avLst>
              <a:gd name="adj" fmla="val 7999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6775247" y="4965558"/>
            <a:ext cx="4654479" cy="628650"/>
          </a:xfrm>
          <a:prstGeom prst="rect">
            <a:avLst/>
          </a:prstGeom>
          <a:solidFill>
            <a:srgbClr val="00B5E2"/>
          </a:solidFill>
          <a:ln/>
        </p:spPr>
      </p:sp>
      <p:sp>
        <p:nvSpPr>
          <p:cNvPr id="4" name="Shape 2"/>
          <p:cNvSpPr/>
          <p:nvPr/>
        </p:nvSpPr>
        <p:spPr>
          <a:xfrm>
            <a:off x="5302148" y="6330757"/>
            <a:ext cx="159379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247" y="2070019"/>
            <a:ext cx="4654479" cy="12700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1970" y="113659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ECOPILE · THE PROMISE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1970" y="2889138"/>
            <a:ext cx="6540337" cy="1276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0" b="1" spc="6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PILING AGAIN.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61970" y="4101998"/>
            <a:ext cx="6349868" cy="520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piling is the foundation of the dock. If your pilings fail, the whole structure goes.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775247" y="1739829"/>
            <a:ext cx="541644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WHY ECOPILE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927677" y="3517788"/>
            <a:ext cx="57780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245157" y="3498769"/>
            <a:ext cx="2539929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50-year written warranty.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927677" y="3867089"/>
            <a:ext cx="57780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245157" y="3847978"/>
            <a:ext cx="1511229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Storm-proven.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927677" y="4209989"/>
            <a:ext cx="57780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245157" y="4190878"/>
            <a:ext cx="1777959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Drop-in for wood.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927677" y="4559198"/>
            <a:ext cx="57780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245157" y="4540179"/>
            <a:ext cx="1765249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Recycled content.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946697" y="5092568"/>
            <a:ext cx="5244998" cy="45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Why spend the extra money on a deck with a 25-year warranty on a foundation that will hardly last half of that?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00517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14028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6311737" y="6400617"/>
            <a:ext cx="95243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TAGLINE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48278" y="3124139"/>
            <a:ext cx="1504920" cy="704820"/>
          </a:xfrm>
          <a:prstGeom prst="rect">
            <a:avLst>
              <a:gd name="adj" fmla="val 1803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6248278" y="3943259"/>
            <a:ext cx="1568379" cy="704820"/>
          </a:xfrm>
          <a:prstGeom prst="rect">
            <a:avLst>
              <a:gd name="adj" fmla="val 1803"/>
            </a:avLst>
          </a:prstGeom>
          <a:ln/>
        </p:spPr>
      </p:sp>
      <p:sp>
        <p:nvSpPr>
          <p:cNvPr id="4" name="Shape 2"/>
          <p:cNvSpPr/>
          <p:nvPr/>
        </p:nvSpPr>
        <p:spPr>
          <a:xfrm>
            <a:off x="5270327" y="6330757"/>
            <a:ext cx="165094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78009" y="273040"/>
            <a:ext cx="11213836" cy="63117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11737" y="1708099"/>
            <a:ext cx="5879958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ANATOMY · REVEAL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48278" y="3124139"/>
            <a:ext cx="2660538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ULTRA HIGH IMPACT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248278" y="3479749"/>
            <a:ext cx="2660538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SPECIALIZED CAPSTOCK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54787" y="3124139"/>
            <a:ext cx="30987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UV/IR-resistant outer skin. Smooth medium-gray PVC.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6248278" y="3943259"/>
            <a:ext cx="2762220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FIBERGLASS-COMPOSITE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248278" y="4298869"/>
            <a:ext cx="2762220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&gt; 200% MORE RIGID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918247" y="3987698"/>
            <a:ext cx="2933670" cy="41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 lbs recycled PVC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248278" y="4762378"/>
            <a:ext cx="3860688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6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~25% STIFFER · NEW FORMULATION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753356" y="4806818"/>
            <a:ext cx="108585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~40% stiffer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568787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11486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6280008" y="6400617"/>
            <a:ext cx="105402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ANATOMY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3686" y="4063868"/>
            <a:ext cx="1416040" cy="704820"/>
          </a:xfrm>
          <a:prstGeom prst="rect">
            <a:avLst>
              <a:gd name="adj" fmla="val 1803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5041819" y="6330757"/>
            <a:ext cx="210814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7817" y="1619220"/>
            <a:ext cx="5333878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INSIDE THE POLE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191287" y="2368479"/>
            <a:ext cx="4000409" cy="876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INTERNAL TRUSS.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857817" y="3238439"/>
            <a:ext cx="533387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six-point star webbing runs the full length of the pile. Triangulated cross-section gives EcoPile structural rigidity far beyond a hollow pipe.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013686" y="4063868"/>
            <a:ext cx="2095439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100" b="1" spc="4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ENHANCED STIFFNESS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013686" y="4419478"/>
            <a:ext cx="2095439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100" b="1" spc="48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EASIER HANDLING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277137" y="4946538"/>
            <a:ext cx="2724089" cy="26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Often called a “Star of David” cross-section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340187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88626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6051408" y="6400617"/>
            <a:ext cx="177795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HEXAGRAM TRUSS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1097" y="3644798"/>
            <a:ext cx="1784269" cy="704820"/>
          </a:xfrm>
          <a:prstGeom prst="rect">
            <a:avLst>
              <a:gd name="adj" fmla="val 1803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7861097" y="4527469"/>
            <a:ext cx="1873240" cy="704820"/>
          </a:xfrm>
          <a:prstGeom prst="rect">
            <a:avLst>
              <a:gd name="adj" fmla="val 1803"/>
            </a:avLst>
          </a:prstGeom>
          <a:ln/>
        </p:spPr>
      </p:sp>
      <p:sp>
        <p:nvSpPr>
          <p:cNvPr id="4" name="Shape 2"/>
          <p:cNvSpPr/>
          <p:nvPr/>
        </p:nvSpPr>
        <p:spPr>
          <a:xfrm>
            <a:off x="5105278" y="6330757"/>
            <a:ext cx="198113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77859" y="0"/>
            <a:ext cx="12191695" cy="685781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97637" y="1606509"/>
            <a:ext cx="4394058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CROSS-SECTION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61097" y="3644798"/>
            <a:ext cx="3111429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5× THE SURFACE AREA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1097" y="4000409"/>
            <a:ext cx="3111429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 GENERATE SKIN FRICTION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861097" y="4527469"/>
            <a:ext cx="3251149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BETTER SETTLING RESISTANCE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1097" y="4882987"/>
            <a:ext cx="3251149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WITH LESS PENETRATION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861097" y="5410048"/>
            <a:ext cx="4330598" cy="425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66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SPIRAL RETENTION GROOVES · 5× MORE GRIP THAN SMOOTH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403738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594981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114867" y="6400617"/>
            <a:ext cx="157478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CROSS-SECTION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670219"/>
            <a:ext cx="1301740" cy="825520"/>
          </a:xfrm>
          <a:prstGeom prst="rect">
            <a:avLst>
              <a:gd name="adj" fmla="val 1540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761970" y="4724248"/>
            <a:ext cx="5391028" cy="82552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4028" y="1873240"/>
            <a:ext cx="4895698" cy="1790670"/>
          </a:xfrm>
          <a:prstGeom prst="rect">
            <a:avLst/>
          </a:prstGeom>
          <a:solidFill>
            <a:srgbClr val="1A1A1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4028" y="3765499"/>
            <a:ext cx="4895698" cy="1790670"/>
          </a:xfrm>
          <a:prstGeom prst="rect">
            <a:avLst/>
          </a:prstGeom>
          <a:solidFill>
            <a:srgbClr val="1A1A1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41819" y="6330757"/>
            <a:ext cx="210814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970" y="38130"/>
            <a:ext cx="939774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5FB8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PROOF · STORM RESILIENCE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1970" y="793699"/>
            <a:ext cx="697851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POLES IN THE STORM.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61970" y="1873240"/>
            <a:ext cx="63498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5FB85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HURRICANE SALLY · PENSACOLA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073298" y="1936699"/>
            <a:ext cx="698510" cy="107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spc="-18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761970" y="3174888"/>
            <a:ext cx="8877087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spc="18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 POLES IN THE WATER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1970" y="3670219"/>
            <a:ext cx="2336749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CONFIRMED LOSSES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1970" y="4025829"/>
            <a:ext cx="2336749" cy="546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spc="48" kern="0" dirty="0">
                <a:solidFill>
                  <a:srgbClr val="0A0A14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ZERO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1970" y="4882987"/>
            <a:ext cx="6349868" cy="488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“Out of the 2,000+ poles in the early days, we didn't lose a single piling we were aware of.”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1970" y="5365608"/>
            <a:ext cx="88770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— TRIDENT MARINE, TAMPA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61970" y="5746638"/>
            <a:ext cx="88770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FF6B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SURROUNDING PROPERTIES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981139" y="5956127"/>
            <a:ext cx="1981139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completely wiped out.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56427" y="2571659"/>
            <a:ext cx="188585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356427" y="2800259"/>
            <a:ext cx="1885859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 dock · post-storm intact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343717" y="4463918"/>
            <a:ext cx="190497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PLACEHOLDER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343717" y="4692518"/>
            <a:ext cx="1904970" cy="241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Concrete-pile damage · contrast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40187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88626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051408" y="6400617"/>
            <a:ext cx="177795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HURRICANE SALLY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2171609"/>
            <a:ext cx="2552639" cy="2933670"/>
          </a:xfrm>
          <a:prstGeom prst="roundRect">
            <a:avLst>
              <a:gd name="adj" fmla="val 5971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67039" y="2171609"/>
            <a:ext cx="2552639" cy="2933670"/>
          </a:xfrm>
          <a:prstGeom prst="roundRect">
            <a:avLst>
              <a:gd name="adj" fmla="val 5971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017" y="2171609"/>
            <a:ext cx="2552639" cy="2933670"/>
          </a:xfrm>
          <a:prstGeom prst="roundRect">
            <a:avLst>
              <a:gd name="adj" fmla="val 5971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77087" y="2171609"/>
            <a:ext cx="2552639" cy="2933670"/>
          </a:xfrm>
          <a:prstGeom prst="roundRect">
            <a:avLst>
              <a:gd name="adj" fmla="val 5971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0187" y="6330757"/>
            <a:ext cx="151763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970" y="63495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SIZING · RULE OF THUMB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1970" y="1009589"/>
            <a:ext cx="11429726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spc="36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 · 10 · 12 · 14 INCH.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939979" y="1555669"/>
            <a:ext cx="3790828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use 10" EcoPile where you'd use 8" wood.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416040" y="2324039"/>
            <a:ext cx="476220" cy="64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spc="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″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971550" y="3473348"/>
            <a:ext cx="367021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TYPICAL USE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71550" y="3752789"/>
            <a:ext cx="3670219" cy="45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Walkway pilings or boathouses in protected, shallow water — lakes &amp; sheltered coves.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4058" y="2324039"/>
            <a:ext cx="476220" cy="64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spc="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″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76528" y="3473348"/>
            <a:ext cx="367021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TYPICAL USE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676528" y="3752789"/>
            <a:ext cx="3670219" cy="45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Deeper-water walkways, terminal platforms, small lifts and boathouse roofs.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073707" y="2324039"/>
            <a:ext cx="476220" cy="64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spc="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″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381598" y="3473348"/>
            <a:ext cx="367021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TYPICAL USE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381598" y="3752789"/>
            <a:ext cx="3670219" cy="63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Boathouse pilings, larger lift poles — anything freestanding with significant loading.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797796" y="2324039"/>
            <a:ext cx="476220" cy="641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spc="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″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086667" y="3473348"/>
            <a:ext cx="310502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TYPICAL USE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086667" y="3752789"/>
            <a:ext cx="3105028" cy="63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Heavy commercial, channel markers, structural — anything you want to throw at it.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1970" y="5460888"/>
            <a:ext cx="150492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DIAMETERS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61970" y="5676778"/>
            <a:ext cx="1504920" cy="29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 · 10 · 12 · 14″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923989" y="5460888"/>
            <a:ext cx="24510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STANDARD LENGTHS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923989" y="5676778"/>
            <a:ext cx="2451049" cy="29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16 · 20 · 31 · 36 ft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70219" y="5460888"/>
            <a:ext cx="218431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CUSTOM LENGTHS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670219" y="5676778"/>
            <a:ext cx="2184319" cy="29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 REQUEST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57709" y="5460888"/>
            <a:ext cx="10794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COLOR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257709" y="5676778"/>
            <a:ext cx="1079449" cy="29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GRAY STD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638648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18472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349868" y="6400617"/>
            <a:ext cx="8318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SIZING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4781398"/>
            <a:ext cx="9524756" cy="41276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30698" y="6330757"/>
            <a:ext cx="192398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970" y="153664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ECOPILE · FOUR NUMBERS WORTH KNOWING COLD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1970" y="1911279"/>
            <a:ext cx="11429726" cy="48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spc="32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50-YEAR. 10-POUND. 8-YEAR. 25-PERCENT.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485900" y="2743109"/>
            <a:ext cx="622249" cy="4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spc="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1970" y="3613069"/>
            <a:ext cx="421629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WRITTEN WARRANTY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61970" y="3879708"/>
            <a:ext cx="421629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Only piling on the market with one.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08308" y="2743109"/>
            <a:ext cx="596920" cy="4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spc="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LB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92368" y="3613069"/>
            <a:ext cx="421629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RECYCLED PVC · PER LIN. FT.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92368" y="3879708"/>
            <a:ext cx="421629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 30-ft pile = ~300 lbs kept out of waterways.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03797" y="2743109"/>
            <a:ext cx="812810" cy="4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spc="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YR+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222858" y="3613069"/>
            <a:ext cx="421629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THE FIELD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22858" y="3879708"/>
            <a:ext cx="4216298" cy="46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Multiple national building awards on EcoPile projects.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658076" y="2743109"/>
            <a:ext cx="507949" cy="4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spc="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%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53256" y="3613069"/>
            <a:ext cx="323843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RIGIDITY · NEW FORMULATION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953256" y="3879708"/>
            <a:ext cx="3238439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New 12″ wall: ~40% stiffer than the prior 12″.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61970" y="4990978"/>
            <a:ext cx="11429726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Around half the cost of comparable 100% fiberglass pilings. Same standard tools as wood.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29159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597523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140287" y="6400617"/>
            <a:ext cx="148590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PROOF POINTS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2228759"/>
            <a:ext cx="3454329" cy="1543050"/>
          </a:xfrm>
          <a:prstGeom prst="roundRect">
            <a:avLst>
              <a:gd name="adj" fmla="val 987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68729" y="2228759"/>
            <a:ext cx="3454329" cy="1543050"/>
          </a:xfrm>
          <a:prstGeom prst="roundRect">
            <a:avLst>
              <a:gd name="adj" fmla="val 987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5397" y="2228759"/>
            <a:ext cx="3454329" cy="1543050"/>
          </a:xfrm>
          <a:prstGeom prst="roundRect">
            <a:avLst>
              <a:gd name="adj" fmla="val 987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1970" y="3924239"/>
            <a:ext cx="3454329" cy="1543050"/>
          </a:xfrm>
          <a:prstGeom prst="roundRect">
            <a:avLst>
              <a:gd name="adj" fmla="val 987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68729" y="3924239"/>
            <a:ext cx="3454329" cy="1543050"/>
          </a:xfrm>
          <a:prstGeom prst="roundRect">
            <a:avLst>
              <a:gd name="adj" fmla="val 987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5397" y="3924239"/>
            <a:ext cx="3454329" cy="1543050"/>
          </a:xfrm>
          <a:prstGeom prst="roundRect">
            <a:avLst>
              <a:gd name="adj" fmla="val 987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11587" y="6330757"/>
            <a:ext cx="196842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61970" y="63495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SECTION RECAP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412919" y="831830"/>
            <a:ext cx="3778118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OVERVIEW.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761970" y="1669969"/>
            <a:ext cx="9397746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workhorse — what to remember when you walk back to your customers.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454079" y="2381189"/>
            <a:ext cx="539770" cy="355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spc="4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71550" y="3009839"/>
            <a:ext cx="5111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WRITTEN WARRANTY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71550" y="3251149"/>
            <a:ext cx="5111587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only piling on the market with one. It closes the contractor.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8218" y="2438339"/>
            <a:ext cx="5111587" cy="55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578218" y="3009839"/>
            <a:ext cx="5111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CONFIRMED LOSSES · HURRICANE SALLY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578218" y="3251149"/>
            <a:ext cx="5111587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2,000+ EcoPile poles in the water at Pensacola. Surrounding wood &amp; concrete docks were destroyed.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915217" y="2374880"/>
            <a:ext cx="641360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spc="4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%+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184977" y="3009839"/>
            <a:ext cx="400671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MORE RIGID THAN COMPETITORS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184977" y="3251149"/>
            <a:ext cx="400671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Hexagram truss runs the full length — six-point star, not a hollow pipe.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206459" y="4070269"/>
            <a:ext cx="406359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spc="4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×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71550" y="4705228"/>
            <a:ext cx="5111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SKIN FRICTION VS WOOD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71550" y="4946538"/>
            <a:ext cx="5111587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Better settling resistance, less penetration depth required.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4914809" y="4076578"/>
            <a:ext cx="387340" cy="355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spc="4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×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8218" y="4705228"/>
            <a:ext cx="511158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COST OF SOLID FIBERGLASS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578218" y="4946538"/>
            <a:ext cx="5111587" cy="412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Attainable for residential &amp; light commercial — not just heavy infrastructure.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184977" y="4133728"/>
            <a:ext cx="4006718" cy="55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USA</a:t>
            </a:r>
            <a:endParaRPr lang="en-US" sz="4000" dirty="0"/>
          </a:p>
        </p:txBody>
      </p:sp>
      <p:sp>
        <p:nvSpPr>
          <p:cNvPr id="30" name="Text 27"/>
          <p:cNvSpPr txBox="1"/>
          <p:nvPr/>
        </p:nvSpPr>
        <p:spPr>
          <a:xfrm>
            <a:off x="8184977" y="4705228"/>
            <a:ext cx="400671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JACKSONVILLE, FL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184977" y="4946538"/>
            <a:ext cx="4006718" cy="24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Drop-in for wood. Same crew, same standard tools. Sizes 8 · 10 · 12 · 16″.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410048" y="6400617"/>
            <a:ext cx="9461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595612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6121268" y="6400617"/>
            <a:ext cx="155566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RECAP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619378"/>
            <a:ext cx="6108558" cy="3155869"/>
          </a:xfrm>
          <a:prstGeom prst="roundRect">
            <a:avLst>
              <a:gd name="adj" fmla="val 4830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109" y="6330757"/>
            <a:ext cx="213357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70" y="-44440"/>
            <a:ext cx="4571909" cy="34606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1276320" y="4032138"/>
            <a:ext cx="838175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276320" y="4813219"/>
            <a:ext cx="3759098" cy="107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spc="5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PLACE.</a:t>
            </a:r>
            <a:endParaRPr lang="en-US" sz="5000" dirty="0"/>
          </a:p>
        </p:txBody>
      </p:sp>
      <p:sp>
        <p:nvSpPr>
          <p:cNvPr id="9" name="Text 5"/>
          <p:cNvSpPr txBox="1"/>
          <p:nvPr/>
        </p:nvSpPr>
        <p:spPr>
          <a:xfrm>
            <a:off x="1276320" y="5867248"/>
            <a:ext cx="838175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Patent-pending PVC clamshell jacket. Restores structural integrity without removing the deck.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327477" y="6400617"/>
            <a:ext cx="12890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608953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254587" y="6400617"/>
            <a:ext cx="14731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OPEN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3371759"/>
            <a:ext cx="5327477" cy="1396929"/>
          </a:xfrm>
          <a:prstGeom prst="roundRect">
            <a:avLst>
              <a:gd name="adj" fmla="val 7272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761970" y="5041819"/>
            <a:ext cx="5327477" cy="76197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62428" y="6330757"/>
            <a:ext cx="186053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3371759"/>
            <a:ext cx="5327477" cy="13969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1970" y="946130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SNAPJACKET · THE PAIN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1970" y="2387498"/>
            <a:ext cx="3981389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200" b="1" spc="42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UNTIL NOW.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761970" y="5251308"/>
            <a:ext cx="8775497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TAGLINE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61970" y="5530748"/>
            <a:ext cx="8775497" cy="34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“The longest-lasting affordable solution to fix decaying pilings.”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84827" y="1562070"/>
            <a:ext cx="52068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FF6B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FULL REPLACEMENT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984827" y="1816090"/>
            <a:ext cx="5206868" cy="507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Mobilize a barge and crane to swap a few piles. Demolish the deck above. Five-figure job for residential.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984827" y="2451049"/>
            <a:ext cx="52068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SNAPJACKET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984827" y="2705070"/>
            <a:ext cx="5206868" cy="507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Slip the jacket around the existing pile. Lock. Fill with concrete. Deck stays. Boat stays. Two-person crew, hand tools.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60888" y="6400617"/>
            <a:ext cx="12890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22285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387907" y="6400617"/>
            <a:ext cx="103500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THE PAIN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5683087"/>
            <a:ext cx="10667756" cy="67309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84669" y="6330757"/>
            <a:ext cx="222244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619220"/>
            <a:ext cx="5257709" cy="380993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17" y="1619220"/>
            <a:ext cx="5257709" cy="380993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1970" y="634959"/>
            <a:ext cx="4590928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SAME DOCK · SAME CREW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761970" y="958840"/>
            <a:ext cx="4590928" cy="48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spc="32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BEFORE · AFTER.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0909066" y="1187440"/>
            <a:ext cx="108585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BEFORE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965149" y="1822399"/>
            <a:ext cx="4229009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FF6B6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BEFORE · MARINE BORERS · ROT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375197" y="1822399"/>
            <a:ext cx="4216298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AFTER · SNAPJACKET INSTALLED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761970" y="5892668"/>
            <a:ext cx="108585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CRANES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761970" y="6070427"/>
            <a:ext cx="1085850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790670" y="5892668"/>
            <a:ext cx="1098560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BARGES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790670" y="6070427"/>
            <a:ext cx="1098560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2825679" y="5892668"/>
            <a:ext cx="191127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DECK REMOVED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2825679" y="6070427"/>
            <a:ext cx="1911279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NONE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375038" y="5892668"/>
            <a:ext cx="380993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WARRANTY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4375038" y="6070427"/>
            <a:ext cx="3809939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25-YEAR · ENGAGED INSTANTLY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283037" y="6400617"/>
            <a:ext cx="12890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800" dirty="0"/>
          </a:p>
        </p:txBody>
      </p:sp>
      <p:sp>
        <p:nvSpPr>
          <p:cNvPr id="20" name="Text 16"/>
          <p:cNvSpPr txBox="1"/>
          <p:nvPr/>
        </p:nvSpPr>
        <p:spPr>
          <a:xfrm>
            <a:off x="604500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6210148" y="6400617"/>
            <a:ext cx="161281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BEFORE · AFTER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1860530"/>
            <a:ext cx="2514509" cy="2755819"/>
          </a:xfrm>
          <a:prstGeom prst="rect">
            <a:avLst/>
          </a:prstGeom>
          <a:ln w="12700">
            <a:solidFill>
              <a:srgbClr val="00B5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9749" y="1860530"/>
            <a:ext cx="2514509" cy="2755819"/>
          </a:xfrm>
          <a:prstGeom prst="rect">
            <a:avLst/>
          </a:prstGeom>
          <a:ln w="1270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7437" y="1860530"/>
            <a:ext cx="2514509" cy="2755819"/>
          </a:xfrm>
          <a:prstGeom prst="rect">
            <a:avLst/>
          </a:prstGeom>
          <a:ln w="12700">
            <a:solidFill>
              <a:srgbClr val="00B5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217" y="1860530"/>
            <a:ext cx="2514509" cy="2755819"/>
          </a:xfrm>
          <a:prstGeom prst="rect">
            <a:avLst/>
          </a:prstGeom>
          <a:ln w="12700">
            <a:solidFill>
              <a:srgbClr val="00B5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94158" y="6330757"/>
            <a:ext cx="180338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970" y="63495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INSTALL · 4 STEPS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1970" y="1009589"/>
            <a:ext cx="11429726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spc="36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SLIP · DRIVE · LOCK · FILL.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61970" y="2076420"/>
            <a:ext cx="4279758" cy="58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61970" y="2736799"/>
            <a:ext cx="427975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3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SLIP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1970" y="3232038"/>
            <a:ext cx="3422599" cy="520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Without removing any deck above.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79749" y="2076420"/>
            <a:ext cx="4279758" cy="58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479749" y="2736799"/>
            <a:ext cx="427975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3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DRIVE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479749" y="3022549"/>
            <a:ext cx="4178168" cy="520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8 to 12 inches below mudline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97437" y="2076420"/>
            <a:ext cx="4279758" cy="58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197437" y="2736799"/>
            <a:ext cx="427975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3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LOCK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197437" y="3041569"/>
            <a:ext cx="4279758" cy="69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Slide the patent-pending locking mechanism down the seam. Watertight seal — blocks sun, oxygen, marine borers.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15217" y="2076420"/>
            <a:ext cx="3276478" cy="58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000" b="1" spc="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8915217" y="2736799"/>
            <a:ext cx="327647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3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FILL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915217" y="3232038"/>
            <a:ext cx="3276478" cy="520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25-year warranty engages instantly.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92618" y="6400617"/>
            <a:ext cx="12890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25458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19728" y="6400617"/>
            <a:ext cx="93342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INSTALL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91178" y="634959"/>
            <a:ext cx="4838548" cy="1523939"/>
          </a:xfrm>
          <a:prstGeom prst="roundRect">
            <a:avLst>
              <a:gd name="adj" fmla="val 6666"/>
            </a:avLst>
          </a:prstGeom>
          <a:ln/>
        </p:spPr>
      </p:sp>
      <p:sp>
        <p:nvSpPr>
          <p:cNvPr id="3" name="Shape 1"/>
          <p:cNvSpPr/>
          <p:nvPr/>
        </p:nvSpPr>
        <p:spPr>
          <a:xfrm>
            <a:off x="6495898" y="2336749"/>
            <a:ext cx="4838548" cy="501640"/>
          </a:xfrm>
          <a:prstGeom prst="roundRect">
            <a:avLst>
              <a:gd name="adj" fmla="val 1518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5898" y="2939979"/>
            <a:ext cx="4838548" cy="501640"/>
          </a:xfrm>
          <a:prstGeom prst="roundRect">
            <a:avLst>
              <a:gd name="adj" fmla="val 1518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5898" y="3543209"/>
            <a:ext cx="4838548" cy="501640"/>
          </a:xfrm>
          <a:prstGeom prst="roundRect">
            <a:avLst>
              <a:gd name="adj" fmla="val 1518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5898" y="4140129"/>
            <a:ext cx="4838548" cy="501640"/>
          </a:xfrm>
          <a:prstGeom prst="roundRect">
            <a:avLst>
              <a:gd name="adj" fmla="val 1518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5898" y="4743359"/>
            <a:ext cx="4838548" cy="501640"/>
          </a:xfrm>
          <a:prstGeom prst="roundRect">
            <a:avLst>
              <a:gd name="adj" fmla="val 1518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5898" y="5346588"/>
            <a:ext cx="4838548" cy="501640"/>
          </a:xfrm>
          <a:prstGeom prst="roundRect">
            <a:avLst>
              <a:gd name="adj" fmla="val 1518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4998" y="6330757"/>
            <a:ext cx="170179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1178" y="634959"/>
            <a:ext cx="4838548" cy="1523939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61970" y="888980"/>
            <a:ext cx="876909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INSTALL · TOOLS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1970" y="3016148"/>
            <a:ext cx="8769096" cy="29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No cranes. No barges. No track hoes. No specialty equipment.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680058" y="2495489"/>
            <a:ext cx="6222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060997" y="2444648"/>
            <a:ext cx="2908249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SAFETY GLASSES + PFD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680058" y="3098719"/>
            <a:ext cx="6222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7060997" y="3047970"/>
            <a:ext cx="2305020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BUCKET + SHOVEL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680058" y="3701948"/>
            <a:ext cx="6222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7060997" y="3651199"/>
            <a:ext cx="3587648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CONCRETE / TYPE-M MORTAR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80058" y="4305178"/>
            <a:ext cx="6222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060997" y="4248028"/>
            <a:ext cx="2908249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SAWZALL · FINE-TOOTH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680058" y="4908408"/>
            <a:ext cx="6222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060997" y="4851258"/>
            <a:ext cx="2095439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POWERWASHER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80058" y="5505328"/>
            <a:ext cx="62224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060997" y="5454487"/>
            <a:ext cx="5130698" cy="36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RATCHET STRAP · OPTIONAL · LARGER JACKETS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543367" y="6400617"/>
            <a:ext cx="12890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30542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6470477" y="6400617"/>
            <a:ext cx="78098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TOOLS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13377" y="1771650"/>
            <a:ext cx="4616348" cy="3238439"/>
          </a:xfrm>
          <a:prstGeom prst="roundRect">
            <a:avLst>
              <a:gd name="adj" fmla="val 4707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73707" y="4184569"/>
            <a:ext cx="4095689" cy="565099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90978" y="6330757"/>
            <a:ext cx="220973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970" y="63495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SPECS · ENGINEERING TRUST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61970" y="1009589"/>
            <a:ext cx="11429726" cy="48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spc="32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PVC CHEMISTRY AS DRINKING-WATER SYSTEMS.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276320" y="1708099"/>
            <a:ext cx="577809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spc="44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1970" y="238118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WARRANTY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61970" y="260978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As strong or stronger than the original piling.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65458" y="1708099"/>
            <a:ext cx="742950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spc="44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YR+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2088" y="238118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UV EXPOSURE RATING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632088" y="260978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compound as vinyl siding &amp; vinyl windows.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36649" y="2927269"/>
            <a:ext cx="520659" cy="393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00" spc="44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61970" y="359404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POTABLE-WATER RATED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61970" y="382264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Zero leaching. Zero lead.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32088" y="2990820"/>
            <a:ext cx="4521068" cy="60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400" b="1" spc="44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3632088" y="359404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FLAME SPREAD INDEX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632088" y="3822649"/>
            <a:ext cx="45210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Does not support combustion. Microbiologically immune.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073707" y="2031980"/>
            <a:ext cx="511798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SIZING CHEAT-SHEET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48337" y="2343059"/>
            <a:ext cx="812810" cy="317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1.5–2″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073707" y="2831988"/>
            <a:ext cx="800100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6″ pole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528036" y="2831988"/>
            <a:ext cx="128262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10″ jacket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73707" y="3276478"/>
            <a:ext cx="876270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10″ pole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528036" y="3276478"/>
            <a:ext cx="128262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 14″ jacket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73707" y="3727369"/>
            <a:ext cx="86355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14″ pole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112246" y="3714659"/>
            <a:ext cx="342900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*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73707" y="4317888"/>
            <a:ext cx="511798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JACKET DIAMETERS · LENGTHS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073707" y="4546488"/>
            <a:ext cx="5117988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10 · 12 · 14 · 16″ · 7.5 ft std · custom on request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89438" y="6400617"/>
            <a:ext cx="128903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05140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216457" y="6400617"/>
            <a:ext cx="15937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SPECS &amp; SIZING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1212860"/>
            <a:ext cx="6362578" cy="4311579"/>
          </a:xfrm>
          <a:prstGeom prst="roundRect">
            <a:avLst>
              <a:gd name="adj" fmla="val 3535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17988" y="6330757"/>
            <a:ext cx="195571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781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30" y="2152589"/>
            <a:ext cx="1308049" cy="53337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1403330" y="1727119"/>
            <a:ext cx="838175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04 · PREVIEW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403330" y="3492368"/>
            <a:ext cx="2374880" cy="107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000" b="1" spc="5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NEXT.</a:t>
            </a:r>
            <a:endParaRPr lang="en-US" sz="5000" dirty="0"/>
          </a:p>
        </p:txBody>
      </p:sp>
      <p:sp>
        <p:nvSpPr>
          <p:cNvPr id="9" name="Text 5"/>
          <p:cNvSpPr txBox="1"/>
          <p:nvPr/>
        </p:nvSpPr>
        <p:spPr>
          <a:xfrm>
            <a:off x="1403330" y="4546488"/>
            <a:ext cx="8381756" cy="539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Roadmap conversation, not a Tuesday close. Productization is maturing — but the engineering is here, and the channel discussion starts today.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416448" y="6400617"/>
            <a:ext cx="10159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ECOWALL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600056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6172017" y="6400617"/>
            <a:ext cx="14731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SECTION OPEN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33570" y="2222449"/>
            <a:ext cx="7924648" cy="4063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2133570" y="2831988"/>
            <a:ext cx="7924648" cy="571500"/>
          </a:xfrm>
          <a:prstGeom prst="rect">
            <a:avLst/>
          </a:prstGeom>
          <a:solidFill>
            <a:srgbClr val="00B5E2"/>
          </a:solidFill>
          <a:ln w="6350">
            <a:solidFill>
              <a:srgbClr val="00B5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33570" y="3606668"/>
            <a:ext cx="7924648" cy="4063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1970" y="4375038"/>
            <a:ext cx="10667756" cy="654070"/>
          </a:xfrm>
          <a:prstGeom prst="rect">
            <a:avLst/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46538" y="6330757"/>
            <a:ext cx="229861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1970" y="63495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ECOWALL · ALLOWABLE MOMENT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1970" y="1295339"/>
            <a:ext cx="7549926" cy="71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spc="32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~2× THE ALLOWABLE MOMENT.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61970" y="2241469"/>
            <a:ext cx="228590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ESP 3.1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761970" y="2419320"/>
            <a:ext cx="2285909" cy="22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competitor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159716" y="2266889"/>
            <a:ext cx="2031980" cy="355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spc="22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3,129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1970" y="2844698"/>
            <a:ext cx="2285909" cy="431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★ ECOWALL 24.250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61970" y="3200309"/>
            <a:ext cx="2285909" cy="22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+102% · +91%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159716" y="2895539"/>
            <a:ext cx="2031980" cy="48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200" b="1" spc="32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5,979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61970" y="3625779"/>
            <a:ext cx="228590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SG-325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61970" y="3803538"/>
            <a:ext cx="2285909" cy="22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competitor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159716" y="3651199"/>
            <a:ext cx="2031980" cy="355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00" b="1" spc="22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2,960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61970" y="4584619"/>
            <a:ext cx="196842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UNIT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57250" y="4844948"/>
            <a:ext cx="596920" cy="26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allow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730648" y="4609948"/>
            <a:ext cx="234945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PARITY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730648" y="4825837"/>
            <a:ext cx="234945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All three at 0.25" thickness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27836" y="4609948"/>
            <a:ext cx="326385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TAKEAWAY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27836" y="4825837"/>
            <a:ext cx="3263859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Same shipping, same handling, more performance.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244998" y="6400617"/>
            <a:ext cx="10159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ECOWALL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5835518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000567" y="6400617"/>
            <a:ext cx="201927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ALLOWABLE MOMENT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1822399"/>
            <a:ext cx="10667756" cy="2825679"/>
          </a:xfrm>
          <a:prstGeom prst="roundRect">
            <a:avLst>
              <a:gd name="adj" fmla="val 5394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5698" y="6330757"/>
            <a:ext cx="2400209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1970" y="634959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HOW TO SELL · HOW TO ORDER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1970" y="1009589"/>
            <a:ext cx="11429726" cy="53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600" b="1" spc="36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CHANNEL CHEAT-SHEET.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174730" y="2184319"/>
            <a:ext cx="228590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647920" y="2184319"/>
            <a:ext cx="450204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FULFILLMENT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505328" y="2184319"/>
            <a:ext cx="450204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QUOTE TURNAROUND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362737" y="2184319"/>
            <a:ext cx="382895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TYPICAL CUSTOMER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74730" y="2717688"/>
            <a:ext cx="2285909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ECOPILE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47920" y="2736799"/>
            <a:ext cx="450204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GREAT SOUTHERN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05328" y="2736799"/>
            <a:ext cx="450204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1–3 days · common stock lengths in gray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62737" y="2743109"/>
            <a:ext cx="3828959" cy="26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Marine contractors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74730" y="3308299"/>
            <a:ext cx="2285909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SNAPJACKET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647920" y="3327319"/>
            <a:ext cx="450204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DIRECT FROM SHORELINE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730807" y="3340029"/>
            <a:ext cx="229861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(production capacity increasing)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62737" y="3333628"/>
            <a:ext cx="3828959" cy="26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Smaller-scale marine contractors · homeowners / DIYers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74730" y="3898819"/>
            <a:ext cx="2285909" cy="30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spc="18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ECOWALL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647920" y="3917838"/>
            <a:ext cx="450204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TBD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505328" y="3917838"/>
            <a:ext cx="450204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1–2 weeks · test projects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62737" y="3924239"/>
            <a:ext cx="3828959" cy="26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Marine contractors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1970" y="5130698"/>
            <a:ext cx="553705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WORKFLOW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485900" y="5365608"/>
            <a:ext cx="476220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05020" y="5365608"/>
            <a:ext cx="476220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444898" y="5130698"/>
            <a:ext cx="553705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TECHNICAL ESCALATION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444898" y="5384627"/>
            <a:ext cx="553705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Routes through Shoreline. Hands-on, not transactional.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127827" y="5130698"/>
            <a:ext cx="406386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PRICING + CONTACTS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127827" y="5384627"/>
            <a:ext cx="4063868" cy="27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In the leave-behind. Not on these slides.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194158" y="6400617"/>
            <a:ext cx="101599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CHANNEL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78467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5949818" y="6400617"/>
            <a:ext cx="217160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HOW TO SELL &amp; ORDER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709" y="6330757"/>
            <a:ext cx="1676370" cy="298460"/>
          </a:xfrm>
          <a:prstGeom prst="roundRect">
            <a:avLst>
              <a:gd name="adj" fmla="val 122549"/>
            </a:avLst>
          </a:prstGeom>
          <a:ln w="635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49" y="850849"/>
            <a:ext cx="4825837" cy="48258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1970" y="1187440"/>
            <a:ext cx="1142972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b="1" spc="4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// WHY NOW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61970" y="1739829"/>
            <a:ext cx="10210556" cy="4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spc="54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CCA INTO FLORIDA WATERWAYS · ANNUALLY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61970" y="2178009"/>
            <a:ext cx="45591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0" b="1" spc="-24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2.5M</a:t>
            </a:r>
            <a:endParaRPr lang="en-US" sz="12000" dirty="0"/>
          </a:p>
        </p:txBody>
      </p:sp>
      <p:sp>
        <p:nvSpPr>
          <p:cNvPr id="7" name="Text 4"/>
          <p:cNvSpPr txBox="1"/>
          <p:nvPr/>
        </p:nvSpPr>
        <p:spPr>
          <a:xfrm>
            <a:off x="3581339" y="2330348"/>
            <a:ext cx="2070019" cy="49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spc="315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GALLONS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61970" y="3600359"/>
            <a:ext cx="5537058" cy="482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Roughly two tank trucks of CCA dumped into Florida waterways every single day.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49926" y="2647920"/>
            <a:ext cx="464176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2003 · THE BAN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549926" y="2889138"/>
            <a:ext cx="4641769" cy="69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EPA bans CCA-treated wood for general consumer use — decks, playgrounds, picnic tables. Marine carve-out preserved because no cost-effective alternative existed.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549926" y="3682929"/>
            <a:ext cx="4641769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spc="270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TODAY · THE SHIFT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7549926" y="3924239"/>
            <a:ext cx="4641769" cy="692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That alternative exists — it's what we make. Multiple states have already banned any treated lumber in contact with water. The regulatory baseline is shifting, and contractors are starting to feel it.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56077" y="6400617"/>
            <a:ext cx="96514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CLOSING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6114867" y="6400617"/>
            <a:ext cx="3364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/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6280008" y="6400617"/>
            <a:ext cx="106673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spc="16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WHY NOW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588" y="1466789"/>
            <a:ext cx="1498519" cy="6985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412919" y="2673248"/>
            <a:ext cx="9778776" cy="77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00" b="1" spc="55" kern="0" dirty="0">
                <a:solidFill>
                  <a:srgbClr val="FFFFFF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MODERNIZE THE SUBSTRATE.</a:t>
            </a:r>
            <a:endParaRPr lang="en-US" sz="5500" dirty="0"/>
          </a:p>
        </p:txBody>
      </p:sp>
      <p:sp>
        <p:nvSpPr>
          <p:cNvPr id="4" name="Text 1"/>
          <p:cNvSpPr txBox="1"/>
          <p:nvPr/>
        </p:nvSpPr>
        <p:spPr>
          <a:xfrm>
            <a:off x="2412919" y="3473348"/>
            <a:ext cx="9778776" cy="77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5500" b="1" spc="55" kern="0" dirty="0">
                <a:solidFill>
                  <a:srgbClr val="00B5E2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OUTLAST THE ELEMENTS.</a:t>
            </a:r>
            <a:endParaRPr lang="en-US" sz="5500" dirty="0"/>
          </a:p>
        </p:txBody>
      </p:sp>
      <p:sp>
        <p:nvSpPr>
          <p:cNvPr id="5" name="Text 2"/>
          <p:cNvSpPr txBox="1"/>
          <p:nvPr/>
        </p:nvSpPr>
        <p:spPr>
          <a:xfrm>
            <a:off x="4483029" y="4806818"/>
            <a:ext cx="4438498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b="1" spc="270" kern="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QUESTIONS · LEAVE-BEHIND · TECHNICAL LINE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4483029" y="5060838"/>
            <a:ext cx="4438498" cy="27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A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Shoreline Plastics · Jacksonville, FL · shorelineplastics.com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Shoreline Plastics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Shoreline x Master Halco — Region 8 Vendor Training</dc:title>
  <dc:subject>PptxGenJS Presentation</dc:subject>
  <dc:creator>PptxGenJS</dc:creator>
  <cp:lastModifiedBy>PptxGenJS</cp:lastModifiedBy>
  <cp:revision>1</cp:revision>
  <dcterms:created xsi:type="dcterms:W3CDTF">2026-04-28T13:43:58Z</dcterms:created>
  <dcterms:modified xsi:type="dcterms:W3CDTF">2026-04-28T13:43:58Z</dcterms:modified>
</cp:coreProperties>
</file>